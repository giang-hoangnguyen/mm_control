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ổng quan" id="{be107763-21f5-1754-7768-dbeff39ce78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Chuẩn bị" id="{cbda050a-80ae-97a5-2294-f0d7c62d7551}">
          <p14:sldIdLst>
            <p14:sldId id="262"/>
            <p14:sldId id="263"/>
          </p14:sldIdLst>
        </p14:section>
        <p14:section name="Lắp ráp và kiểm tra" id="{84e9609a-677f-cc40-fcf6-e6ca86c2b419}">
          <p14:sldIdLst>
            <p14:sldId id="264"/>
            <p14:sldId id="265"/>
            <p14:sldId id="266"/>
          </p14:sldIdLst>
        </p14:section>
        <p14:section name="Ứng dụng và vỏ" id="{feacd9dd-6e71-50d4-1013-e9b1363645a5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G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">
    <p:bg>
      <p:bgPr>
        <a:solidFill>
          <a:srgbClr val="D6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ề bìa"/>
          <p:cNvSpPr txBox="1"/>
          <p:nvPr/>
        </p:nvSpPr>
        <p:spPr>
          <a:xfrm>
            <a:off x="548640" y="9601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0" kern="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MM_CONTROL</a:t>
            </a:r>
            <a:endParaRPr lang="en-US" sz="3400" dirty="0"/>
          </a:p>
        </p:txBody>
      </p:sp>
      <p:sp>
        <p:nvSpPr>
          <p:cNvPr id="3" name="Phụ đề bìa"/>
          <p:cNvSpPr txBox="1"/>
          <p:nvPr/>
        </p:nvSpPr>
        <p:spPr>
          <a:xfrm>
            <a:off x="54864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ĐIỀU KHIỂN CHUYỂN ĐỘNG STM32F407</a:t>
            </a:r>
            <a:endParaRPr lang="en-US" sz="1700" dirty="0"/>
          </a:p>
        </p:txBody>
      </p:sp>
      <p:sp>
        <p:nvSpPr>
          <p:cNvPr id="4" name="Đường kẻ bìa"/>
          <p:cNvSpPr/>
          <p:nvPr/>
        </p:nvSpPr>
        <p:spPr>
          <a:xfrm>
            <a:off x="548640" y="2423160"/>
            <a:ext cx="420624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mạch, mua linh kiện, hàn, kiểm tra, sử dụng và ứng dụng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Tài liệu chi tiết: docs/MM_Control_Huong_dan_chi_tiet.pdf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75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Tác giả thiết kế: tue-minh. Chỉnh sửa và bổ sung: giang-hoangnguyen.</a:t>
            </a:r>
            <a:endParaRPr lang="en-US" sz="1150" dirty="0"/>
          </a:p>
        </p:txBody>
      </p:sp>
      <p:sp>
        <p:nvSpPr>
          <p:cNvPr id="8" name="Khung ảnh board"/>
          <p:cNvSpPr/>
          <p:nvPr/>
        </p:nvSpPr>
        <p:spPr>
          <a:xfrm>
            <a:off x="5074920" y="868680"/>
            <a:ext cx="3611880" cy="301752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pic>
        <p:nvPicPr>
          <p:cNvPr id="9" name="Ảnh board" descr="Mô hình 3D board MM_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337560" cy="2258160"/>
          </a:xfrm>
          <a:prstGeom prst="rect">
            <a:avLst/>
          </a:prstGeom>
        </p:spPr>
      </p:pic>
      <p:sp>
        <p:nvSpPr>
          <p:cNvPr id="10" name="Dải cam chân bìa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Đường kẻ dải chân bìa"/>
          <p:cNvSpPr/>
          <p:nvPr/>
        </p:nvSpPr>
        <p:spPr>
          <a:xfrm>
            <a:off x="0" y="4526280"/>
            <a:ext cx="91440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526280"/>
            <a:ext cx="80467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MẠCH  ·  MUA LINH KIỆN  ·  HÀN  ·  KIỂM TRA  ·  ỨNG DỤNG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PHẠM VI SỬ DỤNG CỦA BOARD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Bốn nhóm ứng dụng và mức sẵn sàng của firmware hiện có</a:t>
            </a:r>
            <a:endParaRPr lang="en-US" sz="1300" dirty="0"/>
          </a:p>
        </p:txBody>
      </p:sp>
      <p:sp>
        <p:nvSpPr>
          <p:cNvPr id="4" name="Thẻ UGV 4 bánh"/>
          <p:cNvSpPr/>
          <p:nvPr/>
        </p:nvSpPr>
        <p:spPr>
          <a:xfrm>
            <a:off x="457200" y="1188720"/>
            <a:ext cx="402336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Vòng icon UGV 4 bánh"/>
          <p:cNvSpPr/>
          <p:nvPr/>
        </p:nvSpPr>
        <p:spPr>
          <a:xfrm>
            <a:off x="640080" y="133502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 UGV 4 bánh" descr="UGV 4 bá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356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UGV 4 bánh</a:t>
            </a:r>
            <a:endParaRPr lang="en-US" sz="1600" dirty="0"/>
          </a:p>
        </p:txBody>
      </p:sp>
      <p:sp>
        <p:nvSpPr>
          <p:cNvPr id="8" name="Nhãn Dùng được"/>
          <p:cNvSpPr/>
          <p:nvPr/>
        </p:nvSpPr>
        <p:spPr>
          <a:xfrm>
            <a:off x="640080" y="1883664"/>
            <a:ext cx="109728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883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Dùng được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94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kênh DRV8872, lệnh PWM qua USB. Dòng chop khoảng 1,75 A mỗi kênh, điều khiển hở (không có encoder).</a:t>
            </a:r>
            <a:endParaRPr lang="en-US" sz="1150" dirty="0"/>
          </a:p>
        </p:txBody>
      </p:sp>
      <p:sp>
        <p:nvSpPr>
          <p:cNvPr id="11" name="Thẻ Servo bus STS3215"/>
          <p:cNvSpPr/>
          <p:nvPr/>
        </p:nvSpPr>
        <p:spPr>
          <a:xfrm>
            <a:off x="4663440" y="1188720"/>
            <a:ext cx="402336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2" name="Vòng icon Servo bus STS3215"/>
          <p:cNvSpPr/>
          <p:nvPr/>
        </p:nvSpPr>
        <p:spPr>
          <a:xfrm>
            <a:off x="4846320" y="133502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Servo bus STS3215" descr="Servo bus STS321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43560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40680" y="1353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Servo bus STS3215</a:t>
            </a:r>
            <a:endParaRPr lang="en-US" sz="1600" dirty="0"/>
          </a:p>
        </p:txBody>
      </p:sp>
      <p:sp>
        <p:nvSpPr>
          <p:cNvPr id="15" name="Nhãn Dùng được"/>
          <p:cNvSpPr/>
          <p:nvPr/>
        </p:nvSpPr>
        <p:spPr>
          <a:xfrm>
            <a:off x="4846320" y="1883664"/>
            <a:ext cx="109728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1883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Dùng được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846320" y="2194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Một dây, 1 Mbps. Đọc vị trí, tải, điện áp, nhiệt độ. Servo dùng chung rail VM nên VM phải đúng điện áp servo.</a:t>
            </a:r>
            <a:endParaRPr lang="en-US" sz="1150" dirty="0"/>
          </a:p>
        </p:txBody>
      </p:sp>
      <p:sp>
        <p:nvSpPr>
          <p:cNvPr id="18" name="Thẻ Động cơ bước, 3 trục"/>
          <p:cNvSpPr/>
          <p:nvPr/>
        </p:nvSpPr>
        <p:spPr>
          <a:xfrm>
            <a:off x="457200" y="2926080"/>
            <a:ext cx="402336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9" name="Vòng icon Động cơ bước, 3 trục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con Động cơ bước, 3 trục" descr="Động cơ bước, 3 trụ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7296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3444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Động cơ bước, 3 trục</a:t>
            </a:r>
            <a:endParaRPr lang="en-US" sz="1600" dirty="0"/>
          </a:p>
        </p:txBody>
      </p:sp>
      <p:sp>
        <p:nvSpPr>
          <p:cNvPr id="22" name="Nhãn Cần bổ sung firmware"/>
          <p:cNvSpPr/>
          <p:nvPr/>
        </p:nvSpPr>
        <p:spPr>
          <a:xfrm>
            <a:off x="640080" y="3621024"/>
            <a:ext cx="173736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" y="36210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Cần bổ sung firmware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40080" y="3931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Phần cứng đủ 3 driver TMC2209. Mã nguồn chỉ đặt chân DIR, không có đoạn khởi động TIM1 để phát xung STEP.</a:t>
            </a:r>
            <a:endParaRPr lang="en-US" sz="1150" dirty="0"/>
          </a:p>
        </p:txBody>
      </p:sp>
      <p:sp>
        <p:nvSpPr>
          <p:cNvPr id="25" name="Thẻ CNC 4–5 trục"/>
          <p:cNvSpPr/>
          <p:nvPr/>
        </p:nvSpPr>
        <p:spPr>
          <a:xfrm>
            <a:off x="4663440" y="2926080"/>
            <a:ext cx="402336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26" name="Vòng icon CNC 4–5 trục"/>
          <p:cNvSpPr/>
          <p:nvPr/>
        </p:nvSpPr>
        <p:spPr>
          <a:xfrm>
            <a:off x="4846320" y="307238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Icon CNC 4–5 trục" descr="CNC 4–5 trục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172968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440680" y="3090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CNC 4–5 trục</a:t>
            </a:r>
            <a:endParaRPr lang="en-US" sz="1600" dirty="0"/>
          </a:p>
        </p:txBody>
      </p:sp>
      <p:sp>
        <p:nvSpPr>
          <p:cNvPr id="29" name="Nhãn Không hỗ trợ"/>
          <p:cNvSpPr/>
          <p:nvPr/>
        </p:nvSpPr>
        <p:spPr>
          <a:xfrm>
            <a:off x="4846320" y="3621024"/>
            <a:ext cx="1097280" cy="23774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846320" y="36210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 hỗ trợ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4846320" y="3931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có 3 driver bước và không có cổng endstop. Thêm trục cần driver ngoài, sửa phần cứng và firmware.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SƠ ĐỒ KHỐI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Một nguồn VM, hai tầng hạ áp, USB chỉ truyền dữ liệu</a:t>
            </a:r>
            <a:endParaRPr lang="en-US" sz="1300" dirty="0"/>
          </a:p>
        </p:txBody>
      </p:sp>
      <p:sp>
        <p:nvSpPr>
          <p:cNvPr id="4" name="Khung sơ đồ khối"/>
          <p:cNvSpPr/>
          <p:nvPr/>
        </p:nvSpPr>
        <p:spPr>
          <a:xfrm>
            <a:off x="457200" y="1188720"/>
            <a:ext cx="580644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pic>
        <p:nvPicPr>
          <p:cNvPr id="5" name="Sơ đồ khối" descr="Sơ đồ khối board MM_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623560" cy="30072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46520" y="1234440"/>
            <a:ext cx="2240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Một nguồn VM</a:t>
            </a: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vào cổng J8, dải dùng được 6,5–28 V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Buck TPS5430 hạ VM xuống 5 V, LDO AMS1117 hạ tiếp xuống 3,3 V cho MCU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USB-C chỉ truyền dữ liệu.</a:t>
            </a: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VBUS không cấp nguồn cho board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Servo STS3215 lấy điện trực tiếp từ VM (cổng J1)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VỊ TRÍ KHỐI VÀ CỔNG KẾT NỐI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Nhãn cổng theo thiết kế PCB</a:t>
            </a:r>
            <a:endParaRPr lang="en-US" sz="1300" dirty="0"/>
          </a:p>
        </p:txBody>
      </p:sp>
      <p:sp>
        <p:nvSpPr>
          <p:cNvPr id="4" name="Khung ảnh board có nhãn"/>
          <p:cNvSpPr/>
          <p:nvPr/>
        </p:nvSpPr>
        <p:spPr>
          <a:xfrm>
            <a:off x="4572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pic>
        <p:nvPicPr>
          <p:cNvPr id="5" name="Ảnh board có nhãn" descr="Board nhìn từ trên xuống kèm nhã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3931920" cy="32461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8346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Ký hiệu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Chức năng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Nguồn vào (GND, VM1)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J7, J23–J25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Động cơ DC 1–4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J4, J5, J6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Động cơ bước (XH 4 chân)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Servo STS3215 (GND, VM1, tín hiệu)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J22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USB-C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J17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(CAN_L, CAN_H)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SWD: 3V3, SWDIO, SWCLK, GND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SW1 / SW3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RESET / BOOT0 (LOW = chạy chương trình)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J2, J11, J12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Mở rộng SPI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J9, J10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I2C / UART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RV1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Chỉnh điện áp +5 V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TP1–TP4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Điểm đo VM, 3V3, 5V, VBUS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GIỚI HẠN ĐIỆN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giá trị cần đối chiếu trước khi cấp nguồn</a:t>
            </a:r>
            <a:endParaRPr lang="en-US" sz="1300" dirty="0"/>
          </a:p>
        </p:txBody>
      </p:sp>
      <p:sp>
        <p:nvSpPr>
          <p:cNvPr id="4" name="Thẻ số 6,5–28 V"/>
          <p:cNvSpPr/>
          <p:nvPr/>
        </p:nvSpPr>
        <p:spPr>
          <a:xfrm>
            <a:off x="457200" y="1188720"/>
            <a:ext cx="1536192" cy="1737360"/>
          </a:xfrm>
          <a:prstGeom prst="roundRect">
            <a:avLst>
              <a:gd name="adj" fmla="val 595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30352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6,5–28 V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điện áp VM dùng được (DRV8872 ≥ 6,5 V, TMC2209 ≤ 28 V)</a:t>
            </a:r>
            <a:endParaRPr lang="en-US" sz="1100" dirty="0"/>
          </a:p>
        </p:txBody>
      </p:sp>
      <p:sp>
        <p:nvSpPr>
          <p:cNvPr id="7" name="Thẻ số 1,75 A"/>
          <p:cNvSpPr/>
          <p:nvPr/>
        </p:nvSpPr>
        <p:spPr>
          <a:xfrm>
            <a:off x="2130552" y="1188720"/>
            <a:ext cx="1536192" cy="1737360"/>
          </a:xfrm>
          <a:prstGeom prst="roundRect">
            <a:avLst>
              <a:gd name="adj" fmla="val 595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203704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1,75 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0116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dòng chop mỗi kênh DC (0,35 V / 0,2 Ω)</a:t>
            </a:r>
            <a:endParaRPr lang="en-US" sz="1100" dirty="0"/>
          </a:p>
        </p:txBody>
      </p:sp>
      <p:sp>
        <p:nvSpPr>
          <p:cNvPr id="10" name="Thẻ số 2 A RMS"/>
          <p:cNvSpPr/>
          <p:nvPr/>
        </p:nvSpPr>
        <p:spPr>
          <a:xfrm>
            <a:off x="3803904" y="1188720"/>
            <a:ext cx="1536192" cy="1737360"/>
          </a:xfrm>
          <a:prstGeom prst="roundRect">
            <a:avLst>
              <a:gd name="adj" fmla="val 595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77056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A RMS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20116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dòng cuộn dây tối đa của TMC2209</a:t>
            </a:r>
            <a:endParaRPr lang="en-US" sz="1100" dirty="0"/>
          </a:p>
        </p:txBody>
      </p:sp>
      <p:sp>
        <p:nvSpPr>
          <p:cNvPr id="13" name="Thẻ số 3 A"/>
          <p:cNvSpPr/>
          <p:nvPr/>
        </p:nvSpPr>
        <p:spPr>
          <a:xfrm>
            <a:off x="5477256" y="1188720"/>
            <a:ext cx="1536192" cy="1737360"/>
          </a:xfrm>
          <a:prstGeom prst="roundRect">
            <a:avLst>
              <a:gd name="adj" fmla="val 595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550408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586984" y="20116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dòng ra tối đa của buck 5 V (TPS5430)</a:t>
            </a:r>
            <a:endParaRPr lang="en-US" sz="1100" dirty="0"/>
          </a:p>
        </p:txBody>
      </p:sp>
      <p:sp>
        <p:nvSpPr>
          <p:cNvPr id="16" name="Thẻ số 1,28 kHz"/>
          <p:cNvSpPr/>
          <p:nvPr/>
        </p:nvSpPr>
        <p:spPr>
          <a:xfrm>
            <a:off x="7150608" y="1188720"/>
            <a:ext cx="1536192" cy="1737360"/>
          </a:xfrm>
          <a:prstGeom prst="roundRect">
            <a:avLst>
              <a:gd name="adj" fmla="val 595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23760" y="137160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1,28 kHz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201168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tần số PWM của kênh DC (84 MHz / 65536)</a:t>
            </a:r>
            <a:endParaRPr lang="en-US" sz="1100" dirty="0"/>
          </a:p>
        </p:txBody>
      </p:sp>
      <p:sp>
        <p:nvSpPr>
          <p:cNvPr id="19" name="Khung cảnh báo VM"/>
          <p:cNvSpPr/>
          <p:nvPr/>
        </p:nvSpPr>
        <p:spPr>
          <a:xfrm>
            <a:off x="457200" y="3108960"/>
            <a:ext cx="822960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Servo STS3215 bản 7,4 V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làm việc 4–7,4 V: nếu dùng nó thì VM phải ≤ 7,4 V. </a:t>
            </a: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 12 V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cần VM = 12 V. Đối chiếu trước khi cắm J1.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 có mạch chống ngược cực trên đường VM. Cấp nguồn lần đầu bằng nguồn giới hạn dòng.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Tụ 100 µF trên rail VM không ghi điện áp định mức trong schematic: chọn ≥ 1,5 × VM khi mua.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Nguồn: datasheet TI (DRV8872, TPS5430), Trinamic (TMC2209), Feetech (STS3215). 1,75 A và 1,28 kHz tính từ giá trị trong file.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QUY TRÌNH 8 BƯỚC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Từ file thiết kế đến board chạy được</a:t>
            </a:r>
            <a:endParaRPr lang="en-US" sz="1300" dirty="0"/>
          </a:p>
        </p:txBody>
      </p:sp>
      <p:sp>
        <p:nvSpPr>
          <p:cNvPr id="4" name="Bước 1"/>
          <p:cNvSpPr/>
          <p:nvPr/>
        </p:nvSpPr>
        <p:spPr>
          <a:xfrm>
            <a:off x="457200" y="118872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Số 1"/>
          <p:cNvSpPr/>
          <p:nvPr/>
        </p:nvSpPr>
        <p:spPr>
          <a:xfrm>
            <a:off x="621792" y="133502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883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PCB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Gửi file Gerber cho xưởng</a:t>
            </a:r>
            <a:endParaRPr lang="en-US" sz="1100" dirty="0"/>
          </a:p>
        </p:txBody>
      </p:sp>
      <p:sp>
        <p:nvSpPr>
          <p:cNvPr id="9" name="Bước 2"/>
          <p:cNvSpPr/>
          <p:nvPr/>
        </p:nvSpPr>
        <p:spPr>
          <a:xfrm>
            <a:off x="2560320" y="118872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0" name="Số 2"/>
          <p:cNvSpPr/>
          <p:nvPr/>
        </p:nvSpPr>
        <p:spPr>
          <a:xfrm>
            <a:off x="2724912" y="133502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1883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Mua linh kiện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 BOM, thêm module TMC2209 và phụ kiện</a:t>
            </a:r>
            <a:endParaRPr lang="en-US" sz="1100" dirty="0"/>
          </a:p>
        </p:txBody>
      </p:sp>
      <p:sp>
        <p:nvSpPr>
          <p:cNvPr id="14" name="Bước 3"/>
          <p:cNvSpPr/>
          <p:nvPr/>
        </p:nvSpPr>
        <p:spPr>
          <a:xfrm>
            <a:off x="4663440" y="118872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5" name="Số 3"/>
          <p:cNvSpPr/>
          <p:nvPr/>
        </p:nvSpPr>
        <p:spPr>
          <a:xfrm>
            <a:off x="4828032" y="133502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28032" y="1883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giai đoạn: nguồn 5 V, 3,3 V, MCU, driver</a:t>
            </a:r>
            <a:endParaRPr lang="en-US" sz="1100" dirty="0"/>
          </a:p>
        </p:txBody>
      </p:sp>
      <p:sp>
        <p:nvSpPr>
          <p:cNvPr id="19" name="Bước 4"/>
          <p:cNvSpPr/>
          <p:nvPr/>
        </p:nvSpPr>
        <p:spPr>
          <a:xfrm>
            <a:off x="6766560" y="118872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20" name="Số 4"/>
          <p:cNvSpPr/>
          <p:nvPr/>
        </p:nvSpPr>
        <p:spPr>
          <a:xfrm>
            <a:off x="6931152" y="133502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1335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18836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 kiểm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22128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TP1, TP2, TP3 sau mỗi giai đoạn</a:t>
            </a:r>
            <a:endParaRPr lang="en-US" sz="1100" dirty="0"/>
          </a:p>
        </p:txBody>
      </p:sp>
      <p:sp>
        <p:nvSpPr>
          <p:cNvPr id="24" name="Bước 5"/>
          <p:cNvSpPr/>
          <p:nvPr/>
        </p:nvSpPr>
        <p:spPr>
          <a:xfrm>
            <a:off x="457200" y="292608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25" name="Số 5"/>
          <p:cNvSpPr/>
          <p:nvPr/>
        </p:nvSpPr>
        <p:spPr>
          <a:xfrm>
            <a:off x="621792" y="30723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3621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Nạp firmware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3950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ST-Link qua J3</a:t>
            </a:r>
            <a:endParaRPr lang="en-US" sz="1100" dirty="0"/>
          </a:p>
        </p:txBody>
      </p:sp>
      <p:sp>
        <p:nvSpPr>
          <p:cNvPr id="29" name="Bước 6"/>
          <p:cNvSpPr/>
          <p:nvPr/>
        </p:nvSpPr>
        <p:spPr>
          <a:xfrm>
            <a:off x="2560320" y="292608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30" name="Số 6"/>
          <p:cNvSpPr/>
          <p:nvPr/>
        </p:nvSpPr>
        <p:spPr>
          <a:xfrm>
            <a:off x="2724912" y="30723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2491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2724912" y="3621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khối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724912" y="3950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LED, DC, servo bằng Python</a:t>
            </a:r>
            <a:endParaRPr lang="en-US" sz="1100" dirty="0"/>
          </a:p>
        </p:txBody>
      </p:sp>
      <p:sp>
        <p:nvSpPr>
          <p:cNvPr id="34" name="Bước 7"/>
          <p:cNvSpPr/>
          <p:nvPr/>
        </p:nvSpPr>
        <p:spPr>
          <a:xfrm>
            <a:off x="4663440" y="292608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35" name="Số 7"/>
          <p:cNvSpPr/>
          <p:nvPr/>
        </p:nvSpPr>
        <p:spPr>
          <a:xfrm>
            <a:off x="4828032" y="30723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2803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828032" y="3621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Làm ứng dụng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828032" y="3950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UGV, cánh tay, CNC 3 trục</a:t>
            </a:r>
            <a:endParaRPr lang="en-US" sz="1100" dirty="0"/>
          </a:p>
        </p:txBody>
      </p:sp>
      <p:sp>
        <p:nvSpPr>
          <p:cNvPr id="39" name="Bước 8"/>
          <p:cNvSpPr/>
          <p:nvPr/>
        </p:nvSpPr>
        <p:spPr>
          <a:xfrm>
            <a:off x="6766560" y="2926080"/>
            <a:ext cx="1920240" cy="1627632"/>
          </a:xfrm>
          <a:prstGeom prst="roundRect">
            <a:avLst>
              <a:gd name="adj" fmla="val 561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40" name="Số 8"/>
          <p:cNvSpPr/>
          <p:nvPr/>
        </p:nvSpPr>
        <p:spPr>
          <a:xfrm>
            <a:off x="6931152" y="30723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3115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931152" y="36210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vỏ, lắp ráp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9502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Vỏ 2 mảnh, 4 vít M4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MẠCH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Gerber, 2 lớp, 100 × 100 mm, dày 1,6 mm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Mục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Giá trị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Số lớp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Kích thước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 × 100 mm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Độ dày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1,6 mm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Số via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Khoảng cách tối thiểu đồng tới viền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0,5 mm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Lắp ráp SMT tại xưởng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Không chọn nếu hàn tay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Khung các bước đặt"/>
          <p:cNvSpPr/>
          <p:nvPr/>
        </p:nvSpPr>
        <p:spPr>
          <a:xfrm>
            <a:off x="5440680" y="1188720"/>
            <a:ext cx="3246120" cy="3154680"/>
          </a:xfrm>
          <a:prstGeom prst="roundRect">
            <a:avLst>
              <a:gd name="adj" fmla="val 2899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623560" y="1298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Các bước đặt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16916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Tải lên hardware/MM_Control_gerber.zip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Xem bản xem trước: viền 100 × 100 mm, 4 lỗ góc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Chọn thông số như bảng bên trái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 tay: không chọn lắp ráp SMT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Lưu lại file Gerber đã dùng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Gerber gồm 9 file lớp và 2 file khoan (PTH, NPTH). Sửa thiết kế: mở hardware/MM_Control.kicad_pro bằng KiCad 9.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MUA LINH KIỆN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 nhóm: hàn khò, hàn tay, mua ngoài board</a:t>
            </a:r>
            <a:endParaRPr lang="en-US" sz="1300" dirty="0"/>
          </a:p>
        </p:txBody>
      </p:sp>
      <p:sp>
        <p:nvSpPr>
          <p:cNvPr id="4" name="Thẻ mua Cần hot-air hoặc reflow"/>
          <p:cNvSpPr/>
          <p:nvPr/>
        </p:nvSpPr>
        <p:spPr>
          <a:xfrm>
            <a:off x="45720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Vòng icon Cần hot-air hoặc reflow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 Cần hot-air hoặc reflow" descr="Cần hot-air hoặc re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264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Cần hot-air hoặc reflow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× DRV8872DDA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(HTSOP-8, pad nhiệt)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× TPS5430DDA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(SO-PowerPAD-8)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Pad nhiệt nằm dưới thân chip, mỏ hàn thường không đủ</a:t>
            </a:r>
            <a:endParaRPr lang="en-US" sz="1150" dirty="0"/>
          </a:p>
        </p:txBody>
      </p:sp>
      <p:sp>
        <p:nvSpPr>
          <p:cNvPr id="9" name="Thẻ mua Hàn bằng mỏ hàn"/>
          <p:cNvSpPr/>
          <p:nvPr/>
        </p:nvSpPr>
        <p:spPr>
          <a:xfrm>
            <a:off x="324612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0" name="Vòng icon Hàn bằng mỏ hàn"/>
          <p:cNvSpPr/>
          <p:nvPr/>
        </p:nvSpPr>
        <p:spPr>
          <a:xfrm>
            <a:off x="341071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con Hàn bằng mỏ hàn" descr="Hàn bằng mỏ hà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42646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776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 bằng mỏ hàn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9659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STM32F407VET6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LQFP-100, bước 0,5 mm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AMS1117-3.3, TJA1051T/3, SS34, cuộn 22 µH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Tụ, điện trở 0603/1206, LED, thạch anh 8 MHz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Terminal, JST XH, SPOX, USB-C, header</a:t>
            </a:r>
            <a:endParaRPr lang="en-US" sz="1150" dirty="0"/>
          </a:p>
        </p:txBody>
      </p:sp>
      <p:sp>
        <p:nvSpPr>
          <p:cNvPr id="14" name="Thẻ mua Mua ngoài board"/>
          <p:cNvSpPr/>
          <p:nvPr/>
        </p:nvSpPr>
        <p:spPr>
          <a:xfrm>
            <a:off x="6035040" y="1188720"/>
            <a:ext cx="2651760" cy="283464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5" name="Vòng icon Mua ngoài board"/>
          <p:cNvSpPr/>
          <p:nvPr/>
        </p:nvSpPr>
        <p:spPr>
          <a:xfrm>
            <a:off x="619963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con Mua ngoài board" descr="Mua ngoài 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264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Mua ngoài board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196596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× module TMC2209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SilentStepStick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Động cơ NEMA 17 + dây XH 4 chân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 12 V giới hạn dòng, cáp USB-C dữ liệu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ST-Link V2, vít M4 × 12 (4), insert M4 (4)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BOM đầy đủ: hardware/BOM_MM_Control.csv (51 dòng, lập từ footprint trong file PCB).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 4 GIAI ĐOẠN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Cấp nguồn thử bằng 12 V, giới hạn dòng 100 mA, đo sau mỗi giai đoạn</a:t>
            </a:r>
            <a:endParaRPr lang="en-US" sz="1300" dirty="0"/>
          </a:p>
        </p:txBody>
      </p:sp>
      <p:sp>
        <p:nvSpPr>
          <p:cNvPr id="4" name="Giai đoạn A"/>
          <p:cNvSpPr/>
          <p:nvPr/>
        </p:nvSpPr>
        <p:spPr>
          <a:xfrm>
            <a:off x="45720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Vòng A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325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 5 V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19202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Hàn: TPS5430, D2, L2, tụ, R1, R15, R18, R27, RV1, J8, LED VCC1, 5V1</a:t>
            </a:r>
            <a:endParaRPr lang="en-US" sz="1100" dirty="0"/>
          </a:p>
        </p:txBody>
      </p:sp>
      <p:sp>
        <p:nvSpPr>
          <p:cNvPr id="9" name="Đường kẻ A"/>
          <p:cNvSpPr/>
          <p:nvPr/>
        </p:nvSpPr>
        <p:spPr>
          <a:xfrm>
            <a:off x="621792" y="3063240"/>
            <a:ext cx="15910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15468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TP1 ≈ 12 V. Chỉnh RV1 cho TP3 = 5,0 V</a:t>
            </a:r>
            <a:endParaRPr lang="en-US" sz="1100" dirty="0"/>
          </a:p>
        </p:txBody>
      </p:sp>
      <p:sp>
        <p:nvSpPr>
          <p:cNvPr id="11" name="Giai đoạn B"/>
          <p:cNvSpPr/>
          <p:nvPr/>
        </p:nvSpPr>
        <p:spPr>
          <a:xfrm>
            <a:off x="256032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2" name="Vòng B"/>
          <p:cNvSpPr/>
          <p:nvPr/>
        </p:nvSpPr>
        <p:spPr>
          <a:xfrm>
            <a:off x="272491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491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73552" y="1325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Nguồn 3,3 V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19202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Hàn: AMS1117-3.3, C2, C4, LED 3V3</a:t>
            </a:r>
            <a:endParaRPr lang="en-US" sz="1100" dirty="0"/>
          </a:p>
        </p:txBody>
      </p:sp>
      <p:sp>
        <p:nvSpPr>
          <p:cNvPr id="16" name="Đường kẻ B"/>
          <p:cNvSpPr/>
          <p:nvPr/>
        </p:nvSpPr>
        <p:spPr>
          <a:xfrm>
            <a:off x="2724912" y="3063240"/>
            <a:ext cx="15910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24912" y="315468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TP2 = 3,3 V</a:t>
            </a:r>
            <a:endParaRPr lang="en-US" sz="1100" dirty="0"/>
          </a:p>
        </p:txBody>
      </p:sp>
      <p:sp>
        <p:nvSpPr>
          <p:cNvPr id="18" name="Giai đoạn C"/>
          <p:cNvSpPr/>
          <p:nvPr/>
        </p:nvSpPr>
        <p:spPr>
          <a:xfrm>
            <a:off x="466344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9" name="Vòng C"/>
          <p:cNvSpPr/>
          <p:nvPr/>
        </p:nvSpPr>
        <p:spPr>
          <a:xfrm>
            <a:off x="482803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76672" y="1325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MCU, USB, nút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19202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Hàn: STM32, thạch anh, tụ VCAP, USB-C, SW1, SW3, J3</a:t>
            </a:r>
            <a:endParaRPr lang="en-US" sz="1100" dirty="0"/>
          </a:p>
        </p:txBody>
      </p:sp>
      <p:sp>
        <p:nvSpPr>
          <p:cNvPr id="23" name="Đường kẻ C"/>
          <p:cNvSpPr/>
          <p:nvPr/>
        </p:nvSpPr>
        <p:spPr>
          <a:xfrm>
            <a:off x="4828032" y="3063240"/>
            <a:ext cx="15910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315468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 nạp firmware: cổng COM, VID 0x0483, PID 0x5740</a:t>
            </a:r>
            <a:endParaRPr lang="en-US" sz="1100" dirty="0"/>
          </a:p>
        </p:txBody>
      </p:sp>
      <p:sp>
        <p:nvSpPr>
          <p:cNvPr id="25" name="Giai đoạn D"/>
          <p:cNvSpPr/>
          <p:nvPr/>
        </p:nvSpPr>
        <p:spPr>
          <a:xfrm>
            <a:off x="6766560" y="1188720"/>
            <a:ext cx="1920240" cy="2926080"/>
          </a:xfrm>
          <a:prstGeom prst="roundRect">
            <a:avLst>
              <a:gd name="adj" fmla="val 4762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26" name="Vòng D"/>
          <p:cNvSpPr/>
          <p:nvPr/>
        </p:nvSpPr>
        <p:spPr>
          <a:xfrm>
            <a:off x="693115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3115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79792" y="1325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Driver, cổng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931152" y="1920240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Hàn: DRV8872 ×4, R ISEN, CAN, terminal, XH, SPOX, header, jumper MS</a:t>
            </a:r>
            <a:endParaRPr lang="en-US" sz="1100" dirty="0"/>
          </a:p>
        </p:txBody>
      </p:sp>
      <p:sp>
        <p:nvSpPr>
          <p:cNvPr id="30" name="Đường kẻ D"/>
          <p:cNvSpPr/>
          <p:nvPr/>
        </p:nvSpPr>
        <p:spPr>
          <a:xfrm>
            <a:off x="6931152" y="3063240"/>
            <a:ext cx="15910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31152" y="315468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LED DC_Fault tắt. Cắm TMC2209 sau cùng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 hàn hết rồi mới cấp nguồn. Hàn jumper MS1/MS2 của TMC2209 trước khi cắm module.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CHỈNH RV1 CHO +5 V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Bắt buộc trước khi gắn linh kiện 5 V</a:t>
            </a:r>
            <a:endParaRPr lang="en-US" sz="1300" dirty="0"/>
          </a:p>
        </p:txBody>
      </p:sp>
      <p:sp>
        <p:nvSpPr>
          <p:cNvPr id="4" name="Khung cảnh báo RV1"/>
          <p:cNvSpPr/>
          <p:nvPr/>
        </p:nvSpPr>
        <p:spPr>
          <a:xfrm>
            <a:off x="457200" y="1188720"/>
            <a:ext cx="4114800" cy="3154680"/>
          </a:xfrm>
          <a:prstGeom prst="roundRect">
            <a:avLst>
              <a:gd name="adj" fmla="val 2899"/>
            </a:avLst>
          </a:prstGeom>
          <a:solidFill>
            <a:schemeClr val="accent3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Làm trước khi gắn linh kiện 5 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RV1 đặt sai có thể đưa rail +5 V lên khoảng 9,5 V (tính từ công thức), vượt dải của TJA1051 và các linh kiện 5 V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 khối nguồn (giai đoạn A), cấp 12 V có giới hạn dòng, đo TP3 (5V_BUCK) và chỉnh RV1 tới 5,0 V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Vặn chậm và theo dõi đồng hồ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Vout = 1,22 × (1 + (R18 + RV1) / R27)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R18 = 12 kΩ, R27 = 4,7 kΩ, Vref ≈ 1,22 V (datasheet TPS5430)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965960"/>
          <a:ext cx="3840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RV1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Vout (tính)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Ω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4,34 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2,5 kΩ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4,98 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2,6 kΩ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5,01 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kΩ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5,11 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 kΩ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9,53 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84632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Điểm bắt đầu: RV1 ≈ 2,6 kΩ cho 5,01 V. Đo giá trị thực bằng đồng hồ.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NẠP FIRMWARE VÀ KIỂM TRA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ST-Link qua SWD, kiểm tra từng khối bằng thư viện Python</a:t>
            </a:r>
            <a:endParaRPr lang="en-US" sz="1300" dirty="0"/>
          </a:p>
        </p:txBody>
      </p:sp>
      <p:sp>
        <p:nvSpPr>
          <p:cNvPr id="4" name="Khung nạp firmware"/>
          <p:cNvSpPr/>
          <p:nvPr/>
        </p:nvSpPr>
        <p:spPr>
          <a:xfrm>
            <a:off x="457200" y="1188720"/>
            <a:ext cx="3291840" cy="320040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Nạp bằng ST-Link (cổng J3)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64208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Nối SWDIO (chân 2), SWCLK (chân 3), GND (chân 4). Cấp nguồn board qua J8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 hàn jumper swd-3v3 khi đã cấp nguồn từ J8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STM32CubeProgrammer: nạp MM_Control.bin tại 0x08000000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SW3 ở LOW, bấm RESET. Tự biên dịch: cmake --preset Debug</a:t>
            </a:r>
            <a:endParaRPr lang="en-US" sz="1150" dirty="0"/>
          </a:p>
        </p:txBody>
      </p:sp>
      <p:sp>
        <p:nvSpPr>
          <p:cNvPr id="7" name="Khung lệnh Python"/>
          <p:cNvSpPr/>
          <p:nvPr/>
        </p:nvSpPr>
        <p:spPr>
          <a:xfrm>
            <a:off x="3931920" y="1188720"/>
            <a:ext cx="47548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69080" y="1298448"/>
            <a:ext cx="4526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từ thư mục firmware/python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examples/motor_control.py --port COM3 --info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examples/led_control.py --port COM3 --on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examples/motor_control.py --port COM3 --dc 1 --dc-duty 2000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examples/motor_control.py --port COM3 --dc 1 --dc-stop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examples/motor_control.py --port COM3 --servo 1 --servo-ping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examples/motor_control.py --port COM3 --servo 1 --servo-fb</a:t>
            </a:r>
            <a:endParaRPr lang="en-US" sz="900" dirty="0"/>
          </a:p>
        </p:txBody>
      </p:sp>
      <p:sp>
        <p:nvSpPr>
          <p:cNvPr id="9" name="Khung lưu ý bước"/>
          <p:cNvSpPr/>
          <p:nvPr/>
        </p:nvSpPr>
        <p:spPr>
          <a:xfrm>
            <a:off x="3931920" y="3657600"/>
            <a:ext cx="4754880" cy="731520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69080" y="37216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Động cơ bước:</a:t>
            </a:r>
            <a:r>
              <a:rPr lang="en-US" sz="11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lệnh --step-move trả OK nhưng mã nguồn không phát xung STEP. Đo chân STEP (PE9) bằng logic analyzer.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ỨNG DỤNG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Mức đáp ứng theo từng ứng dụng</a:t>
            </a:r>
            <a:endParaRPr lang="en-US" sz="1300" dirty="0"/>
          </a:p>
        </p:txBody>
      </p:sp>
      <p:sp>
        <p:nvSpPr>
          <p:cNvPr id="4" name="Thẻ UGV 4 bánh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5" name="Vòng icon UGV 4 bánh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Icon UGV 4 bánh" descr="UGV 4 bá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264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UGV 4 bánh</a:t>
            </a:r>
            <a:endParaRPr lang="en-US" sz="1400" dirty="0"/>
          </a:p>
        </p:txBody>
      </p:sp>
      <p:sp>
        <p:nvSpPr>
          <p:cNvPr id="8" name="Nhãn Dùng được"/>
          <p:cNvSpPr/>
          <p:nvPr/>
        </p:nvSpPr>
        <p:spPr>
          <a:xfrm>
            <a:off x="640080" y="1920240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Dùng được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28600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Skid-steer hoặc mecanum, 4 kênh DC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 khiển từ máy tính hoặc máy tính nhúng qua USB (thư viện Python)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Giới hạn: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điều khiển hở, không encoder, ≈ 1,75 A mỗi kênh, PWM 1,28 kHz</a:t>
            </a:r>
            <a:endParaRPr lang="en-US" sz="1150" dirty="0"/>
          </a:p>
        </p:txBody>
      </p:sp>
      <p:sp>
        <p:nvSpPr>
          <p:cNvPr id="11" name="Thẻ Cánh tay, khớp STS3215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2" name="Vòng icon Cánh tay, khớp STS3215"/>
          <p:cNvSpPr/>
          <p:nvPr/>
        </p:nvSpPr>
        <p:spPr>
          <a:xfrm>
            <a:off x="341071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on Cánh tay, khớp STS3215" descr="Cánh tay, khớp STS321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4264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7764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Cánh tay, khớp STS3215</a:t>
            </a:r>
            <a:endParaRPr lang="en-US" sz="1400" dirty="0"/>
          </a:p>
        </p:txBody>
      </p:sp>
      <p:sp>
        <p:nvSpPr>
          <p:cNvPr id="15" name="Nhãn Dùng được"/>
          <p:cNvSpPr/>
          <p:nvPr/>
        </p:nvSpPr>
        <p:spPr>
          <a:xfrm>
            <a:off x="3429000" y="1920240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2900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Dùng được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28600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Nhiều servo trên một bus (ID 0–253)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vị trí, đọc tải, điện áp, nhiệt độ, dòng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Giới hạn: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VM phải bằng điện áp servo; dòng chặn 2,5 A mỗi servo</a:t>
            </a:r>
            <a:endParaRPr lang="en-US" sz="1150" dirty="0"/>
          </a:p>
        </p:txBody>
      </p:sp>
      <p:sp>
        <p:nvSpPr>
          <p:cNvPr id="18" name="Thẻ CNC 3 trục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19" name="Vòng icon CNC 3 trục"/>
          <p:cNvSpPr/>
          <p:nvPr/>
        </p:nvSpPr>
        <p:spPr>
          <a:xfrm>
            <a:off x="6199632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con CNC 3 trục" descr="CNC 3 trụ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42646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6656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CNC 3 trục</a:t>
            </a:r>
            <a:endParaRPr lang="en-US" sz="1400" dirty="0"/>
          </a:p>
        </p:txBody>
      </p:sp>
      <p:sp>
        <p:nvSpPr>
          <p:cNvPr id="22" name="Nhãn Cần phát triển"/>
          <p:cNvSpPr/>
          <p:nvPr/>
        </p:nvSpPr>
        <p:spPr>
          <a:xfrm>
            <a:off x="6217920" y="1920240"/>
            <a:ext cx="137160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17920" y="1920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Cần phát triển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6217920" y="228600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driver TMC2209 và chân STEP/DIR/EN có sẵn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Thiếu:</a:t>
            </a: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phát xung STEP, nội suy và G-code, endstop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Hướng làm: phát xung bằng TIM1, nội suy chạy trên máy tính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VỎ IN 3D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Hai mảnh, in PLA, không cần support</a:t>
            </a:r>
            <a:endParaRPr lang="en-US" sz="1300" dirty="0"/>
          </a:p>
        </p:txBody>
      </p:sp>
      <p:sp>
        <p:nvSpPr>
          <p:cNvPr id="4" name="Khung ảnh vỏ"/>
          <p:cNvSpPr/>
          <p:nvPr/>
        </p:nvSpPr>
        <p:spPr>
          <a:xfrm>
            <a:off x="457200" y="1188720"/>
            <a:ext cx="3200400" cy="34290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pic>
        <p:nvPicPr>
          <p:cNvPr id="5" name="Ảnh vỏ tách lớp" descr="Vỏ tách lớp: nắp, board, đ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2926080" cy="3291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86200" y="12344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mảnh:</a:t>
            </a: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nắp (Enclosure_Top) và đế (Enclosure_Bottom), kẹp board bằng 4 vít M4 qua 4 lỗ góc PCB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Vách 2,4 mm, kích thước ngoài 105,8 × 105,8 mm; nắp cao 22,2 mm, đế cao 11,5 mm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insert M4 ép vào trụ nắp (lỗ Ø5,6 mm sâu 9 mm); vít M4 × 12 mm từ đáy đế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Mái nắp có khoang cho tay và đầu cắm (bo góc R2), 15 khe thông gió trên 3 module TMC2209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PLA, nắp úp mái xuống bàn in, đế đặt sàn xuống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Chưa in thử.</a:t>
            </a: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Khe lắp 0,3 mm, độ sâu lỗ insert và cửa sổ cần chỉnh theo máy 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KIỂM TRA ĐIỆN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Giá trị mong đợi theo schematic, đo sau từng giai đoạn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2148840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Giai đoạn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Phép đo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Mong đợi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Nếu sai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Trước cấp nguồn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Điện trở VM–GND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Khác 0 Ω, tăng dần do nạp tụ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Ngắn mạch: soi tụ, TPS5430, DRV8872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Trước cấp nguồn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Điện trở 5 V–GND, 3V3–GND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Khác 0 Ω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Soi tụ và chân MCU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TP1 khi cấp 12 V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12 V, LED VCC1 sáng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Kiểm tra J8, R23, LED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TP3 sau chỉnh RV1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5,0 V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Chỉnh RV1; kiểm tra R18, R27, L2, D2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TP2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3,3 V, LED 3V3 sáng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Kiểm tra U2, C2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USB-C cắm vào máy tính (sau nạp firmware)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Có cổng COM; VID 0x0483, PID 0x5740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Kiểm tra R12, R13, R14, thạch anh, cáp dữ liệu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4008" marR="64008" marT="27432" marB="27432" anchor="ctr">
                    <a:lnL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5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THƯ MỤC VÀ TRÌNH TỰ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Cấu trúc thư mục và trình tự thực hiện</a:t>
            </a:r>
            <a:endParaRPr lang="en-US" sz="1300" dirty="0"/>
          </a:p>
        </p:txBody>
      </p:sp>
      <p:sp>
        <p:nvSpPr>
          <p:cNvPr id="4" name="Khung cây thư mục"/>
          <p:cNvSpPr/>
          <p:nvPr/>
        </p:nvSpPr>
        <p:spPr>
          <a:xfrm>
            <a:off x="457200" y="1188720"/>
            <a:ext cx="4206240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MM_Control/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README.md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docs/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Huong_dan_chi_tiet.pdf, .docx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Slide_Huong_dan.pptx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hardware/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gerber, BOM, schematic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*.kicad_pro, *.kicad_sch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firmware/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enclosure/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B6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stl/, fusion/, scripts/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B2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images/</a:t>
            </a:r>
            <a:endParaRPr lang="en-US" sz="1100" dirty="0"/>
          </a:p>
        </p:txBody>
      </p:sp>
      <p:sp>
        <p:nvSpPr>
          <p:cNvPr id="6" name="Khung trình tự"/>
          <p:cNvSpPr/>
          <p:nvPr/>
        </p:nvSpPr>
        <p:spPr>
          <a:xfrm>
            <a:off x="4846320" y="1188720"/>
            <a:ext cx="3840480" cy="3246120"/>
          </a:xfrm>
          <a:prstGeom prst="roundRect">
            <a:avLst>
              <a:gd name="adj" fmla="val 2817"/>
            </a:avLst>
          </a:prstGeom>
          <a:solidFill>
            <a:schemeClr val="accent4"/>
          </a:solidFill>
          <a:ln w="15875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2B2B35">
                <a:alpha val="13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 tự thực hiện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69164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Đọc docs/MM_Control_Huong_dan_chi_tiet.pdf, mục 1 và mục 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Đặt PCB, mua linh kiện theo BOM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Hàn khối nguồn, đo TP1, TP2, TP3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Firmware, thư viện Python và ví dụ nằm trong firmware/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Việc còn thiếu: phát xung STEP bằng TIM1 cho 1 trục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A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M_Control_ppt-vn">
  <a:themeElements>
    <a:clrScheme name="MM_Control_ppt-vn">
      <a:dk1>
        <a:srgbClr val="2B2B35"/>
      </a:dk1>
      <a:lt1>
        <a:srgbClr val="FFFAF0"/>
      </a:lt1>
      <a:dk2>
        <a:srgbClr val="2C6E6A"/>
      </a:dk2>
      <a:lt2>
        <a:srgbClr val="F4EBD5"/>
      </a:lt2>
      <a:accent1>
        <a:srgbClr val="E9803D"/>
      </a:accent1>
      <a:accent2>
        <a:srgbClr val="3F8F8C"/>
      </a:accent2>
      <a:accent3>
        <a:srgbClr val="B4531F"/>
      </a:accent3>
      <a:accent4>
        <a:srgbClr val="FDE6CF"/>
      </a:accent4>
      <a:accent5>
        <a:srgbClr val="D6EEE2"/>
      </a:accent5>
      <a:accent6>
        <a:srgbClr val="D4473B"/>
      </a:accent6>
      <a:hlink>
        <a:srgbClr val="2C6E6A"/>
      </a:hlink>
      <a:folHlink>
        <a:srgbClr val="6B6A72"/>
      </a:folHlink>
    </a:clrScheme>
    <a:fontScheme name="MM_Control_ppt-v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MM_Control: tài liệu hướng dẫn kỹ thuật</dc:title>
  <dc:subject>PptxGenJS Presentation</dc:subject>
  <dc:creator>giang-hoangnguyen</dc:creator>
  <cp:lastModifiedBy>giang-hoangnguyen</cp:lastModifiedBy>
  <cp:revision>1</cp:revision>
  <dcterms:created xsi:type="dcterms:W3CDTF">2026-10-23T05:19:35Z</dcterms:created>
  <dcterms:modified xsi:type="dcterms:W3CDTF">2026-10-23T05:19:35Z</dcterms:modified>
</cp:coreProperties>
</file>